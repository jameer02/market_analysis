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(K)</c:v>
                </c:pt>
              </c:strCache>
            </c:strRef>
          </c:tx>
          <c:spPr>
            <a:solidFill>
              <a:srgbClr val="B53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</c:v>
                </c:pt>
                <c:pt idx="1">
                  <c:v>4</c:v>
                </c:pt>
                <c:pt idx="2">
                  <c:v>2.5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10</c:v>
                </c:pt>
                <c:pt idx="7">
                  <c:v>28</c:v>
                </c:pt>
                <c:pt idx="8">
                  <c:v>55</c:v>
                </c:pt>
                <c:pt idx="9">
                  <c:v>79</c:v>
                </c:pt>
                <c:pt idx="10">
                  <c:v>88</c:v>
                </c:pt>
                <c:pt idx="11">
                  <c:v>87</c:v>
                </c:pt>
                <c:pt idx="12">
                  <c:v>85</c:v>
                </c:pt>
                <c:pt idx="13">
                  <c:v>86</c:v>
                </c:pt>
                <c:pt idx="14">
                  <c:v>87</c:v>
                </c:pt>
                <c:pt idx="15">
                  <c:v>87</c:v>
                </c:pt>
                <c:pt idx="16">
                  <c:v>84</c:v>
                </c:pt>
                <c:pt idx="17">
                  <c:v>70</c:v>
                </c:pt>
                <c:pt idx="18">
                  <c:v>56</c:v>
                </c:pt>
                <c:pt idx="19">
                  <c:v>44</c:v>
                </c:pt>
                <c:pt idx="20">
                  <c:v>32</c:v>
                </c:pt>
                <c:pt idx="21">
                  <c:v>24</c:v>
                </c:pt>
                <c:pt idx="22">
                  <c:v>19</c:v>
                </c:pt>
                <c:pt idx="2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5A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5A5C"/>
                    </a:solidFill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D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5A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5A5C"/>
                    </a:solidFill>
                    <a:latin typeface="Arial"/>
                  </a:rPr>
                  <a:t>Orders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(K)</c:v>
                </c:pt>
              </c:strCache>
            </c:strRef>
          </c:tx>
          <c:spPr>
            <a:solidFill>
              <a:srgbClr val="B53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184</c:v>
                </c:pt>
                <c:pt idx="1">
                  <c:v>180</c:v>
                </c:pt>
                <c:pt idx="2">
                  <c:v>144</c:v>
                </c:pt>
                <c:pt idx="3">
                  <c:v>134</c:v>
                </c:pt>
                <c:pt idx="4">
                  <c:v>130</c:v>
                </c:pt>
                <c:pt idx="5">
                  <c:v>141</c:v>
                </c:pt>
                <c:pt idx="6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5A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5A5C"/>
                    </a:solidFill>
                    <a:latin typeface="Arial"/>
                  </a:rPr>
                  <a:t>Day of week (order_dow)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D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5A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5A5C"/>
                    </a:solidFill>
                    <a:latin typeface="Arial"/>
                  </a:rPr>
                  <a:t>Orders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(K)</c:v>
                </c:pt>
              </c:strCache>
            </c:strRef>
          </c:tx>
          <c:spPr>
            <a:solidFill>
              <a:srgbClr val="B53A3A"/>
            </a:solidFill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E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Organic Raspberries</c:v>
                  </c:pt>
                  <c:pt idx="1">
                    <c:v>Limes</c:v>
                  </c:pt>
                  <c:pt idx="2">
                    <c:v>Strawberries</c:v>
                  </c:pt>
                  <c:pt idx="3">
                    <c:v>Organic Hass Avocado</c:v>
                  </c:pt>
                  <c:pt idx="4">
                    <c:v>Organic Avocado</c:v>
                  </c:pt>
                  <c:pt idx="5">
                    <c:v>Large Lemon</c:v>
                  </c:pt>
                  <c:pt idx="6">
                    <c:v>Organic Baby Spinach</c:v>
                  </c:pt>
                  <c:pt idx="7">
                    <c:v>Organic Strawberries</c:v>
                  </c:pt>
                  <c:pt idx="8">
                    <c:v>Bag of Organic Bananas</c:v>
                  </c:pt>
                  <c:pt idx="9">
                    <c:v>Banana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</c:v>
                </c:pt>
                <c:pt idx="1">
                  <c:v>4.6</c:v>
                </c:pt>
                <c:pt idx="2">
                  <c:v>4.9</c:v>
                </c:pt>
                <c:pt idx="3">
                  <c:v>5.5</c:v>
                </c:pt>
                <c:pt idx="4">
                  <c:v>5.6</c:v>
                </c:pt>
                <c:pt idx="5">
                  <c:v>6.1</c:v>
                </c:pt>
                <c:pt idx="6">
                  <c:v>7.4</c:v>
                </c:pt>
                <c:pt idx="7">
                  <c:v>8.2</c:v>
                </c:pt>
                <c:pt idx="8">
                  <c:v>11.6</c:v>
                </c:pt>
                <c:pt idx="9">
                  <c:v>14.1</c:v>
                </c:pt>
              </c:numCache>
            </c:numRef>
          </c:val>
        </c:ser>
        <c:dLbls>
          <c:numFmt formatCode="0.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A1E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E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lines (K)</c:v>
                </c:pt>
              </c:strCache>
            </c:strRef>
          </c:tx>
          <c:spPr>
            <a:solidFill>
              <a:srgbClr val="B53A3A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E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produce</c:v>
                  </c:pt>
                  <c:pt idx="1">
                    <c:v>dairy eggs</c:v>
                  </c:pt>
                  <c:pt idx="2">
                    <c:v>snacks</c:v>
                  </c:pt>
                  <c:pt idx="3">
                    <c:v>beverages</c:v>
                  </c:pt>
                  <c:pt idx="4">
                    <c:v>frozen</c:v>
                  </c:pt>
                  <c:pt idx="5">
                    <c:v>pantry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310</c:v>
                </c:pt>
                <c:pt idx="1">
                  <c:v>180</c:v>
                </c:pt>
                <c:pt idx="2">
                  <c:v>90</c:v>
                </c:pt>
                <c:pt idx="3">
                  <c:v>88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A1E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E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Reorder rate %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E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bread</c:v>
                  </c:pt>
                  <c:pt idx="1">
                    <c:v>white wines</c:v>
                  </c:pt>
                  <c:pt idx="2">
                    <c:v>yogurt</c:v>
                  </c:pt>
                  <c:pt idx="3">
                    <c:v>soy lactosefree</c:v>
                  </c:pt>
                  <c:pt idx="4">
                    <c:v>cream</c:v>
                  </c:pt>
                  <c:pt idx="5">
                    <c:v>packaged produce</c:v>
                  </c:pt>
                  <c:pt idx="6">
                    <c:v>eggs</c:v>
                  </c:pt>
                  <c:pt idx="7">
                    <c:v>fresh fruits</c:v>
                  </c:pt>
                  <c:pt idx="8">
                    <c:v>water seltzer sparkling water</c:v>
                  </c:pt>
                  <c:pt idx="9">
                    <c:v>milk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68.06</c:v>
                </c:pt>
                <c:pt idx="1">
                  <c:v>68.1</c:v>
                </c:pt>
                <c:pt idx="2">
                  <c:v>68.62</c:v>
                </c:pt>
                <c:pt idx="3">
                  <c:v>68.71</c:v>
                </c:pt>
                <c:pt idx="4">
                  <c:v>69.54</c:v>
                </c:pt>
                <c:pt idx="5">
                  <c:v>71.39</c:v>
                </c:pt>
                <c:pt idx="6">
                  <c:v>72.69</c:v>
                </c:pt>
                <c:pt idx="7">
                  <c:v>73.53</c:v>
                </c:pt>
                <c:pt idx="8">
                  <c:v>73.79</c:v>
                </c:pt>
                <c:pt idx="9">
                  <c:v>79.23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A1E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E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market-basket style analysis of grocery orders, answered with 20 SQL questions and summarised in a Power BI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source tables. Orders and order_products carry the behaviour; products, aisles and departments describe the catalogue.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layout: KPIs on top, product and department views in the middle, time and reorder views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628K reorders shows customers come back to the same products again and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ordering runs through the late morning and afternoon. Values are approximate, read from the dashboard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order_dow is coded 0 to 6. Confirm which weekday is 0 in your data dictionary before presenting (in the public Instacart data 0 is Sunday). Values are approximate, read from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product in the top 10 is fresh produce, and six are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approximate. The dashboard chart also overlays reorder rate by department as a second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Reorder rate is the average of the reordered flag per aisle (SQL question 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ties back to a specific chart: hour of day, top products, aisle reorder rate, day of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three insights and inviting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B53A3A">
              <a:alpha val="65000"/>
            </a:srgbClr>
          </a:solidFill>
          <a:ln w="12700">
            <a:solidFill>
              <a:srgbClr val="B53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377440"/>
            <a:ext cx="2377440" cy="2377440"/>
          </a:xfrm>
          <a:prstGeom prst="ellipse">
            <a:avLst/>
          </a:prstGeom>
          <a:solidFill>
            <a:srgbClr val="E8A33D">
              <a:alpha val="80000"/>
            </a:srgbClr>
          </a:solidFill>
          <a:ln w="12700">
            <a:solidFill>
              <a:srgbClr val="E8A3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behavior &amp; product performance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+ Power BI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1.05M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48840" y="347472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63.1K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49040" y="347472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49K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Shaik Jameer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customers shop and which products perform best, to sharpen marketing and improve satisfaction.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5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five tables in MySQL to answer 20 business questions, then visualised the key results in Power BI.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0" y="109728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0" y="1188720"/>
            <a:ext cx="365760" cy="365760"/>
          </a:xfrm>
          <a:prstGeom prst="ellipse">
            <a:avLst/>
          </a:prstGeom>
          <a:solidFill>
            <a:srgbClr val="B53A3A"/>
          </a:solidFill>
          <a:ln w="12700">
            <a:solidFill>
              <a:srgbClr val="B53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434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timing: day, hour, days since prior order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755648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847088"/>
            <a:ext cx="365760" cy="365760"/>
          </a:xfrm>
          <a:prstGeom prst="ellipse">
            <a:avLst/>
          </a:prstGeom>
          <a:solidFill>
            <a:srgbClr val="B53A3A"/>
          </a:solidFill>
          <a:ln w="12700">
            <a:solidFill>
              <a:srgbClr val="B5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55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order_products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each order and whether reordered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2414016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505456"/>
            <a:ext cx="365760" cy="365760"/>
          </a:xfrm>
          <a:prstGeom prst="ellipse">
            <a:avLst/>
          </a:prstGeom>
          <a:solidFill>
            <a:srgbClr val="B53A3A"/>
          </a:solidFill>
          <a:ln w="12700">
            <a:solidFill>
              <a:srgbClr val="B53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340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1401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aisle and department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3072384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163824"/>
            <a:ext cx="365760" cy="365760"/>
          </a:xfrm>
          <a:prstGeom prst="ellipse">
            <a:avLst/>
          </a:prstGeom>
          <a:solidFill>
            <a:srgbClr val="B53A3A"/>
          </a:solidFill>
          <a:ln w="12700">
            <a:solidFill>
              <a:srgbClr val="B53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0723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names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3730752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822192"/>
            <a:ext cx="365760" cy="365760"/>
          </a:xfrm>
          <a:prstGeom prst="ellipse">
            <a:avLst/>
          </a:prstGeom>
          <a:solidFill>
            <a:srgbClr val="B53A3A"/>
          </a:solidFill>
          <a:ln w="12700">
            <a:solidFill>
              <a:srgbClr val="B5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730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names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at a glance</a:t>
            </a:r>
            <a:endParaRPr lang="en-US" sz="3000" dirty="0"/>
          </a:p>
        </p:txBody>
      </p:sp>
      <p:pic>
        <p:nvPicPr>
          <p:cNvPr id="3" name="Image 0" descr="dashboar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035040" cy="334305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76656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766560" y="1051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766560" y="210312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66560" y="2103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766560" y="31546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766560" y="31546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slicer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from the same MySQL data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from the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5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records analysed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5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63.1K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5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49K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the catalogue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3E1520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628K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reorders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bought again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is a major share of buying behaviour, so retention matters as much as acquisition.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customers order: hour of 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hour (approximate values read from the dashboard)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2344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3E152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234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to 4 PM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peak window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80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of roughly 85K to 88K orders per hour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from 7 AM, steady decline after 5 PM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(12 AM to 5 AM) is the quietest period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customers order: day of week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by day (approximate values read from the dashboard)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246888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 and 1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busiest, about 180K to 185K orders each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 to 6 sit between roughly 130K and 145K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about 20% to 30% below the two peak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and promotions around the early-week surge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9184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most ordered products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(thousands)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5778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3E152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fresh fruit or vegetables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8346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 alone (Banana plus the organic bag) account for the top two spots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the 10 are organic, showing strong demand for organic produce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ordered by department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order-line counts (thousands), read from the dashboard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417320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5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is by far the largest department, at roughly 0.3M order lines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eggs is a clear second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then drops into a long tail: snacks, beverages, frozen, pantry, and smaller departments such as pets and bulk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rate by aisle: top 10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items that were reordered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5778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3E152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79.23%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milk items are reorders, the highest aisle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8346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staples lead: milk, eggs, yogurt, cream, bread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fruits and packaged produce also rank high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aisle in the top 10 is above 68%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marketing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insights into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campaigns to demand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promotions and push notifications in the late morning, ahead of the 10 AM to 4 PM peak, and reserve overnight hours for off-peak deals.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produce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57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organic produce and bananas in homepage placements and bundles, since the top 10 products are all fresh items.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staples effortless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749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subscribe-and-save or one-tap reorder for milk, eggs, yogurt and bread, the aisles customers repurchase most.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F0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for the early-week surge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749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staff for days 0 and 1, and use quieter days for targeted discounts to even out demand.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B53A3A">
              <a:alpha val="65000"/>
            </a:srgbClr>
          </a:solidFill>
          <a:ln w="12700">
            <a:solidFill>
              <a:srgbClr val="B53A3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concentrate between 10 AM and 4 PM, with days 0 and 1 the busiest.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77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often organic, produce dominates the top 10 and the largest department.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83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 like milk, eggs and yogurt have the highest reorder rates, near or above 70%.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AE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Analysis - Customer Purchasing Behavior</dc:title>
  <dc:subject>PptxGenJS Presentation</dc:subject>
  <dc:creator>Shaik Jameer</dc:creator>
  <cp:lastModifiedBy>Shaik Jameer</cp:lastModifiedBy>
  <cp:revision>1</cp:revision>
  <dcterms:created xsi:type="dcterms:W3CDTF">2026-09-28T07:30:52Z</dcterms:created>
  <dcterms:modified xsi:type="dcterms:W3CDTF">2026-09-28T07:30:52Z</dcterms:modified>
</cp:coreProperties>
</file>